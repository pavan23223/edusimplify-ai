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83" r:id="rId2"/>
    <p:sldId id="257" r:id="rId3"/>
    <p:sldId id="282" r:id="rId4"/>
    <p:sldId id="290" r:id="rId5"/>
    <p:sldId id="285" r:id="rId6"/>
    <p:sldId id="291" r:id="rId7"/>
    <p:sldId id="278" r:id="rId8"/>
    <p:sldId id="281" r:id="rId9"/>
    <p:sldId id="279" r:id="rId10"/>
    <p:sldId id="262" r:id="rId11"/>
    <p:sldId id="264" r:id="rId12"/>
    <p:sldId id="286" r:id="rId13"/>
    <p:sldId id="287" r:id="rId14"/>
    <p:sldId id="292" r:id="rId15"/>
    <p:sldId id="293" r:id="rId16"/>
    <p:sldId id="294" r:id="rId17"/>
    <p:sldId id="296" r:id="rId18"/>
    <p:sldId id="297" r:id="rId19"/>
    <p:sldId id="298" r:id="rId20"/>
    <p:sldId id="280" r:id="rId21"/>
    <p:sldId id="288" r:id="rId22"/>
    <p:sldId id="289" r:id="rId23"/>
    <p:sldId id="276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A6B9108B-7598-1D50-C4AA-8A38026DAEEF}" v="18" dt="2026-06-19T06:56:18.840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van23223/EduSimplify-AI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12601473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/>
                        <a:t>Pavankalyan</a:t>
                      </a:r>
                      <a:r>
                        <a:rPr lang="en-US" dirty="0"/>
                        <a:t> V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pavan23223</a:t>
                      </a:r>
                      <a:r>
                        <a:rPr lang="en-US"/>
                        <a:t>@gmail.</a:t>
                      </a:r>
                      <a:r>
                        <a:rPr lang="en-US" dirty="0"/>
                        <a:t>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7019290593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2" y="1724343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 – Education</a:t>
            </a:r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– </a:t>
            </a:r>
            <a:r>
              <a:rPr lang="en-IN" sz="2800" b="1" dirty="0" err="1"/>
              <a:t>EduSimplify</a:t>
            </a:r>
            <a:r>
              <a:rPr lang="en-IN" sz="2800" b="1" dirty="0"/>
              <a:t> AI – Personalized Course Content Simplification Agent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Recommended font style and size:</a:t>
            </a:r>
            <a:br>
              <a:rPr lang="en-US" sz="2000" dirty="0">
                <a:solidFill>
                  <a:srgbClr val="FF0000"/>
                </a:solidFill>
              </a:rPr>
            </a:br>
            <a:br>
              <a:rPr lang="en-US" sz="2000" dirty="0"/>
            </a:br>
            <a:r>
              <a:rPr lang="en-US" sz="2000" dirty="0">
                <a:solidFill>
                  <a:srgbClr val="FF0000"/>
                </a:solidFill>
              </a:rPr>
              <a:t>Font Style: Arial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 dirty="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CC6CD-9C8D-586E-52FF-5A1E2E70F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5" y="3683879"/>
            <a:ext cx="627147" cy="9407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Problem Statement : </a:t>
            </a:r>
            <a:r>
              <a:rPr lang="en-IN" sz="2000" b="1" dirty="0"/>
              <a:t>Course Content Simplification Agent</a:t>
            </a:r>
          </a:p>
          <a:p>
            <a:endParaRPr lang="en-IN" sz="2000" b="1" dirty="0"/>
          </a:p>
          <a:p>
            <a:r>
              <a:rPr lang="en-IN" sz="2000" b="1" dirty="0"/>
              <a:t>The Challenge</a:t>
            </a:r>
          </a:p>
          <a:p>
            <a:r>
              <a:rPr lang="en-IN" sz="2000" dirty="0"/>
              <a:t>Educational materials are often presented with a </a:t>
            </a:r>
            <a:r>
              <a:rPr lang="en-IN" sz="2000" b="1" dirty="0"/>
              <a:t>high level of complexity</a:t>
            </a:r>
            <a:r>
              <a:rPr lang="en-IN" sz="2000" dirty="0"/>
              <a:t>, making them difficult for learners with different levels of prior knowledge to understand. Students may struggle with </a:t>
            </a:r>
            <a:r>
              <a:rPr lang="en-IN" sz="2000" b="1" dirty="0"/>
              <a:t>technical terminology, lengthy explanations, and unfamiliar concepts</a:t>
            </a:r>
            <a:r>
              <a:rPr lang="en-IN" sz="2000" dirty="0"/>
              <a:t>. A single explanation style may not effectively support beginners, intermediate learners, and advanced students.</a:t>
            </a:r>
          </a:p>
          <a:p>
            <a:endParaRPr lang="en-IN" sz="2000" dirty="0"/>
          </a:p>
          <a:p>
            <a:r>
              <a:rPr lang="en-IN" sz="2000" b="1" dirty="0"/>
              <a:t>The Objective</a:t>
            </a:r>
          </a:p>
          <a:p>
            <a:r>
              <a:rPr lang="en-IN" sz="2000" dirty="0"/>
              <a:t>Build an </a:t>
            </a:r>
            <a:r>
              <a:rPr lang="en-IN" sz="2000" b="1" dirty="0"/>
              <a:t>AI-powered Course Content Simplification Agent</a:t>
            </a:r>
            <a:r>
              <a:rPr lang="en-IN" sz="2000" dirty="0"/>
              <a:t> that </a:t>
            </a:r>
            <a:r>
              <a:rPr lang="en-IN" sz="2000" dirty="0" err="1"/>
              <a:t>analyzes</a:t>
            </a:r>
            <a:r>
              <a:rPr lang="en-IN" sz="2000" dirty="0"/>
              <a:t> academic content and </a:t>
            </a:r>
            <a:r>
              <a:rPr lang="en-IN" sz="2000" b="1" dirty="0"/>
              <a:t>reframes explanations according to the learner's proficiency level</a:t>
            </a:r>
            <a:r>
              <a:rPr lang="en-IN" sz="2000" dirty="0"/>
              <a:t>, supporting personalized and inclusive education.</a:t>
            </a:r>
          </a:p>
          <a:p>
            <a:r>
              <a:rPr lang="en-IN" sz="2000" dirty="0"/>
              <a:t>The solution should: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Personalized Content Simplification</a:t>
            </a:r>
            <a:r>
              <a:rPr lang="en-IN" sz="2000" dirty="0"/>
              <a:t> – Adapt academic explanations according to </a:t>
            </a:r>
            <a:r>
              <a:rPr lang="en-IN" sz="2000" b="1" dirty="0"/>
              <a:t>Beginner, Intermediate, or Advanced</a:t>
            </a:r>
            <a:r>
              <a:rPr lang="en-IN" sz="2000" dirty="0"/>
              <a:t> learning levels.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Academic Content Analysis</a:t>
            </a:r>
            <a:r>
              <a:rPr lang="en-IN" sz="2000" dirty="0"/>
              <a:t> – </a:t>
            </a:r>
            <a:r>
              <a:rPr lang="en-IN" sz="2000" dirty="0" err="1"/>
              <a:t>Analyze</a:t>
            </a:r>
            <a:r>
              <a:rPr lang="en-IN" sz="2000" dirty="0"/>
              <a:t> </a:t>
            </a:r>
            <a:r>
              <a:rPr lang="en-IN" sz="2000" b="1" dirty="0"/>
              <a:t>textbooks, notes, and PDF-based course materials</a:t>
            </a:r>
            <a:r>
              <a:rPr lang="en-IN" sz="2000" dirty="0"/>
              <a:t> and identify important concepts and terminology.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389763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CCFA31-DEAA-6CEC-7EA7-ED9413197594}"/>
              </a:ext>
            </a:extLst>
          </p:cNvPr>
          <p:cNvSpPr txBox="1"/>
          <p:nvPr/>
        </p:nvSpPr>
        <p:spPr>
          <a:xfrm>
            <a:off x="495300" y="171718"/>
            <a:ext cx="1102042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/>
          </a:p>
          <a:p>
            <a:r>
              <a:rPr lang="en-IN" sz="2000" dirty="0"/>
              <a:t>• </a:t>
            </a:r>
            <a:r>
              <a:rPr lang="en-IN" sz="2000" b="1" dirty="0"/>
              <a:t>Multi-Level Explanations</a:t>
            </a:r>
            <a:r>
              <a:rPr lang="en-IN" sz="2000" dirty="0"/>
              <a:t> – Present the same concept with an appropriate level of technical depth based on learner proficiency.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Multilingual Learning</a:t>
            </a:r>
            <a:r>
              <a:rPr lang="en-IN" sz="2000" dirty="0"/>
              <a:t> – Provide simplified explanations in multiple languages while preserving important technical terminology.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Learning Assistance</a:t>
            </a:r>
            <a:r>
              <a:rPr lang="en-IN" sz="2000" dirty="0"/>
              <a:t> – Generate </a:t>
            </a:r>
            <a:r>
              <a:rPr lang="en-IN" sz="2000" b="1" dirty="0"/>
              <a:t>real-world analogies, practical examples, key concepts, and important terminology</a:t>
            </a:r>
            <a:r>
              <a:rPr lang="en-IN" sz="2000" dirty="0"/>
              <a:t> to improve understanding.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Exam Preparation</a:t>
            </a:r>
            <a:r>
              <a:rPr lang="en-IN" sz="2000" dirty="0"/>
              <a:t> – Generate </a:t>
            </a:r>
            <a:r>
              <a:rPr lang="en-IN" sz="2000" b="1" dirty="0"/>
              <a:t>exam points, quick revision notes, and MCQ-based quizzes</a:t>
            </a:r>
            <a:r>
              <a:rPr lang="en-IN" sz="2000" dirty="0"/>
              <a:t> from the provided academic content.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Interactive Learning Agent</a:t>
            </a:r>
            <a:r>
              <a:rPr lang="en-IN" sz="2000" dirty="0"/>
              <a:t> – Allow students to provide content through </a:t>
            </a:r>
            <a:r>
              <a:rPr lang="en-IN" sz="2000" b="1" dirty="0"/>
              <a:t>text or PDF documents</a:t>
            </a:r>
            <a:r>
              <a:rPr lang="en-IN" sz="2000" dirty="0"/>
              <a:t> and receive personalized learning material.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Downloadable Learning Material</a:t>
            </a:r>
            <a:r>
              <a:rPr lang="en-IN" sz="2000" dirty="0"/>
              <a:t> – Allow learners to save the generated structured notes for future revision</a:t>
            </a:r>
            <a:r>
              <a:rPr lang="en-IN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9362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798683"/>
            <a:ext cx="106070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Proposed Solution: </a:t>
            </a:r>
            <a:r>
              <a:rPr lang="en-IN" sz="2000" b="1" dirty="0" err="1"/>
              <a:t>EduSimplify</a:t>
            </a:r>
            <a:r>
              <a:rPr lang="en-IN" sz="2000" b="1" dirty="0"/>
              <a:t> AI – Course Content Simplification Agent</a:t>
            </a:r>
          </a:p>
          <a:p>
            <a:r>
              <a:rPr lang="en-IN" sz="2000" dirty="0"/>
              <a:t>The proposed solution is an </a:t>
            </a:r>
            <a:r>
              <a:rPr lang="en-IN" sz="2000" b="1" dirty="0"/>
              <a:t>AI-powered Course Content Simplification Agent</a:t>
            </a:r>
            <a:r>
              <a:rPr lang="en-IN" sz="2000" dirty="0"/>
              <a:t> designed to transform complex academic materials into </a:t>
            </a:r>
            <a:r>
              <a:rPr lang="en-IN" sz="2000" b="1" dirty="0"/>
              <a:t>personalized, easy-to-understand learning content</a:t>
            </a:r>
            <a:r>
              <a:rPr lang="en-IN" sz="2000" dirty="0"/>
              <a:t>. The system adapts explanations according to the learner's </a:t>
            </a:r>
            <a:r>
              <a:rPr lang="en-IN" sz="2000" b="1" dirty="0"/>
              <a:t>proficiency level, preferred language, and explanation style</a:t>
            </a:r>
            <a:r>
              <a:rPr lang="en-IN" sz="2000" dirty="0"/>
              <a:t>, supporting inclusive and personalized education.</a:t>
            </a:r>
          </a:p>
          <a:p>
            <a:r>
              <a:rPr lang="en-IN" sz="2000" dirty="0"/>
              <a:t>At its core, the solution accepts </a:t>
            </a:r>
            <a:r>
              <a:rPr lang="en-IN" sz="2000" b="1" dirty="0"/>
              <a:t>academic text or PDF-based course materials</a:t>
            </a:r>
            <a:r>
              <a:rPr lang="en-IN" sz="2000" dirty="0"/>
              <a:t> as input and </a:t>
            </a:r>
            <a:r>
              <a:rPr lang="en-IN" sz="2000" dirty="0" err="1"/>
              <a:t>analyzes</a:t>
            </a:r>
            <a:r>
              <a:rPr lang="en-IN" sz="2000" dirty="0"/>
              <a:t> the content to identify important concepts, terminology, examples, and key learning points. The AI then restructures the content according to the selected learner level, ranging from </a:t>
            </a:r>
            <a:r>
              <a:rPr lang="en-IN" sz="2000" b="1" dirty="0"/>
              <a:t>Beginner to Advanced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dirty="0"/>
              <a:t>The system provides several key learning capabilities:</a:t>
            </a:r>
          </a:p>
          <a:p>
            <a:r>
              <a:rPr lang="en-IN" sz="2000" b="1" dirty="0"/>
              <a:t>Content Analysis Module</a:t>
            </a:r>
            <a:r>
              <a:rPr lang="en-IN" sz="2000" dirty="0"/>
              <a:t> </a:t>
            </a:r>
            <a:r>
              <a:rPr lang="en-IN" sz="2000" dirty="0" err="1"/>
              <a:t>analyzes</a:t>
            </a:r>
            <a:r>
              <a:rPr lang="en-IN" sz="2000" dirty="0"/>
              <a:t> uploaded academic material and identifies the important concepts, terminology, and information that should be retained during simplification.</a:t>
            </a:r>
          </a:p>
          <a:p>
            <a:endParaRPr lang="en-IN" sz="2000" dirty="0"/>
          </a:p>
          <a:p>
            <a:r>
              <a:rPr lang="en-IN" sz="2000" b="1" dirty="0"/>
              <a:t>Personalization Module</a:t>
            </a:r>
            <a:r>
              <a:rPr lang="en-IN" sz="2000" dirty="0"/>
              <a:t> adapts the complexity and depth of explanations according to the student's selected level — </a:t>
            </a:r>
            <a:r>
              <a:rPr lang="en-IN" sz="2000" b="1" dirty="0"/>
              <a:t>Beginner, Intermediate, or Advanced</a:t>
            </a:r>
            <a:r>
              <a:rPr lang="en-IN" sz="20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275463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9205D8-5060-36A0-E210-24768B31C41F}"/>
              </a:ext>
            </a:extLst>
          </p:cNvPr>
          <p:cNvSpPr txBox="1"/>
          <p:nvPr/>
        </p:nvSpPr>
        <p:spPr>
          <a:xfrm>
            <a:off x="661987" y="126772"/>
            <a:ext cx="110728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/>
          </a:p>
          <a:p>
            <a:r>
              <a:rPr lang="en-IN" sz="2000" b="1" dirty="0"/>
              <a:t>Multilingual Learning Module</a:t>
            </a:r>
            <a:r>
              <a:rPr lang="en-IN" sz="2000" dirty="0"/>
              <a:t> generates explanations in multiple languages including </a:t>
            </a:r>
            <a:r>
              <a:rPr lang="en-IN" sz="2000" b="1" dirty="0"/>
              <a:t>English, Kannada, Hindi, Tamil, and Telugu</a:t>
            </a:r>
            <a:r>
              <a:rPr lang="en-IN" sz="2000" dirty="0"/>
              <a:t>, while preserving important technical terminology.</a:t>
            </a:r>
          </a:p>
          <a:p>
            <a:r>
              <a:rPr lang="en-IN" sz="2000" b="1" dirty="0"/>
              <a:t>Learning Assistance Module</a:t>
            </a:r>
            <a:r>
              <a:rPr lang="en-IN" sz="2000" dirty="0"/>
              <a:t> generates </a:t>
            </a:r>
            <a:r>
              <a:rPr lang="en-IN" sz="2000" b="1" dirty="0"/>
              <a:t>real-world analogies, practical examples, key concepts, important terminology, and simplified explanations</a:t>
            </a:r>
            <a:r>
              <a:rPr lang="en-IN" sz="2000" dirty="0"/>
              <a:t> to make difficult topics easier to understand.</a:t>
            </a:r>
          </a:p>
          <a:p>
            <a:r>
              <a:rPr lang="en-IN" sz="2000" b="1" dirty="0"/>
              <a:t>Exam Preparation Module</a:t>
            </a:r>
            <a:r>
              <a:rPr lang="en-IN" sz="2000" dirty="0"/>
              <a:t> generates </a:t>
            </a:r>
            <a:r>
              <a:rPr lang="en-IN" sz="2000" b="1" dirty="0"/>
              <a:t>exam points, quick revision notes, and five MCQ-based questions with answers</a:t>
            </a:r>
            <a:r>
              <a:rPr lang="en-IN" sz="2000" dirty="0"/>
              <a:t>, helping students prepare more effectively.</a:t>
            </a:r>
          </a:p>
          <a:p>
            <a:r>
              <a:rPr lang="en-IN" sz="2000" dirty="0"/>
              <a:t>The solution provides a </a:t>
            </a:r>
            <a:r>
              <a:rPr lang="en-IN" sz="2000" b="1" dirty="0"/>
              <a:t>user-friendly </a:t>
            </a:r>
            <a:r>
              <a:rPr lang="en-IN" sz="2000" b="1" dirty="0" err="1"/>
              <a:t>Streamlit</a:t>
            </a:r>
            <a:r>
              <a:rPr lang="en-IN" sz="2000" b="1" dirty="0"/>
              <a:t> interface</a:t>
            </a:r>
            <a:r>
              <a:rPr lang="en-IN" sz="2000" dirty="0"/>
              <a:t> where students can paste academic content or upload PDF documents, select their learning preferences, and generate personalized learning material.</a:t>
            </a:r>
          </a:p>
          <a:p>
            <a:r>
              <a:rPr lang="en-IN" sz="2000" dirty="0"/>
              <a:t>The AI generation component processes the student's requirements along with the source content and produces structured educational material containing </a:t>
            </a:r>
            <a:r>
              <a:rPr lang="en-IN" sz="2000" b="1" dirty="0"/>
              <a:t>simple explanations, analogies, key concepts, practical examples, exam points, revision notes, quizzes, and a one-line summary</a:t>
            </a:r>
            <a:r>
              <a:rPr lang="en-IN" sz="2000" dirty="0"/>
              <a:t>.</a:t>
            </a:r>
          </a:p>
          <a:p>
            <a:r>
              <a:rPr lang="en-IN" sz="2000" dirty="0"/>
              <a:t>Overall, </a:t>
            </a:r>
            <a:r>
              <a:rPr lang="en-IN" sz="2000" b="1" dirty="0" err="1"/>
              <a:t>EduSimplify</a:t>
            </a:r>
            <a:r>
              <a:rPr lang="en-IN" sz="2000" b="1" dirty="0"/>
              <a:t> AI</a:t>
            </a:r>
            <a:r>
              <a:rPr lang="en-IN" sz="2000" dirty="0"/>
              <a:t> provides an end-to-end personalized learning assistant that reduces the complexity of academic content and helps students understand, revise, and learn according to their individual proficiency levels.</a:t>
            </a:r>
          </a:p>
        </p:txBody>
      </p:sp>
    </p:spTree>
    <p:extLst>
      <p:ext uri="{BB962C8B-B14F-4D97-AF65-F5344CB8AC3E}">
        <p14:creationId xmlns:p14="http://schemas.microsoft.com/office/powerpoint/2010/main" val="323096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946297"/>
            <a:ext cx="1051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LangFlow</a:t>
            </a:r>
            <a:r>
              <a:rPr lang="en-IN" sz="2000" b="1" dirty="0"/>
              <a:t> Platform</a:t>
            </a:r>
            <a:r>
              <a:rPr lang="en-IN" sz="2000" dirty="0"/>
              <a:t> – For visually designing and orchestrating AI workflows and agent-based processing.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IBM Granite Model</a:t>
            </a:r>
            <a:r>
              <a:rPr lang="en-IN" sz="2000" dirty="0"/>
              <a:t> – For natural language understanding, content simplification, reasoning, summarization, and personalization of academic material.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IBM Cloud</a:t>
            </a:r>
            <a:r>
              <a:rPr lang="en-IN" sz="2000" dirty="0"/>
              <a:t> – Provides the infrastructure to build, deploy, and scale the Course Content Simplification Agent in a reliable and secure environment.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RAG (Retrieval-Augmented Generation)</a:t>
            </a:r>
            <a:r>
              <a:rPr lang="en-IN" sz="2000" dirty="0"/>
              <a:t> – Retrieves relevant information from trusted academic sources before generating responses, helping improve the accuracy and reliability of learning content.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IBM watsonx.ai</a:t>
            </a:r>
            <a:r>
              <a:rPr lang="en-IN" sz="2000" dirty="0"/>
              <a:t> – For foundation model deployment, AI development, embeddings, and AI governance.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Vector Database (FAISS/Chroma)</a:t>
            </a:r>
            <a:r>
              <a:rPr lang="en-IN" sz="2000" dirty="0"/>
              <a:t> – For storing and retrieving academic content embeddings to support RAG-based information retrieval.</a:t>
            </a:r>
          </a:p>
          <a:p>
            <a:r>
              <a:rPr lang="en-IN" sz="2000" dirty="0"/>
              <a:t>• </a:t>
            </a:r>
            <a:r>
              <a:rPr lang="en-IN" sz="2000" b="1" dirty="0" err="1"/>
              <a:t>Streamlit</a:t>
            </a:r>
            <a:r>
              <a:rPr lang="en-IN" sz="2000" dirty="0"/>
              <a:t> – For developing the interactive user interface through which students can upload PDFs, enter text, select learning preferences, and view personalized learning material.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Python</a:t>
            </a:r>
            <a:r>
              <a:rPr lang="en-IN" sz="2000" dirty="0"/>
              <a:t> – For implementing PDF processing, AI integration, prompt processing, and application logic.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 err="1">
                <a:sym typeface="Times New Roman"/>
              </a:rPr>
              <a:t>Langflow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sym typeface="Times New Roman"/>
              </a:rPr>
              <a:t>component Used -</a:t>
            </a:r>
            <a:endParaRPr sz="28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61248" y="1072737"/>
            <a:ext cx="1126950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1) Chat Input</a:t>
            </a:r>
            <a:r>
              <a:rPr lang="en-IN" sz="2000" dirty="0"/>
              <a:t> – Interface where students provide their academic content, queries, learning level, language preference, and explanation style.</a:t>
            </a:r>
          </a:p>
          <a:p>
            <a:r>
              <a:rPr lang="en-IN" sz="2000" b="1" dirty="0"/>
              <a:t>2) IBM watsonx.ai Agent</a:t>
            </a:r>
            <a:r>
              <a:rPr lang="en-IN" sz="2000" dirty="0"/>
              <a:t> – Processes the student's input using IBM Granite models to </a:t>
            </a:r>
            <a:r>
              <a:rPr lang="en-IN" sz="2000" dirty="0" err="1"/>
              <a:t>analyze</a:t>
            </a:r>
            <a:r>
              <a:rPr lang="en-IN" sz="2000" dirty="0"/>
              <a:t> and simplify academic content according to the selected proficiency level.</a:t>
            </a:r>
          </a:p>
          <a:p>
            <a:r>
              <a:rPr lang="en-IN" sz="2000" b="1" dirty="0"/>
              <a:t>3) Name of IBM Granite Model –</a:t>
            </a:r>
            <a:r>
              <a:rPr lang="en-IN" sz="2000" dirty="0"/>
              <a:t> </a:t>
            </a:r>
            <a:r>
              <a:rPr lang="en-IN" sz="2000" b="1" dirty="0"/>
              <a:t>Granite-4.0-8B-Instruct</a:t>
            </a:r>
            <a:r>
              <a:rPr lang="en-IN" sz="2000" dirty="0"/>
              <a:t> → Used for natural language understanding, reasoning, summarization, and personalized course-content generation.</a:t>
            </a:r>
          </a:p>
          <a:p>
            <a:r>
              <a:rPr lang="en-IN" sz="2000" b="1" dirty="0"/>
              <a:t>4) Chat Output</a:t>
            </a:r>
            <a:r>
              <a:rPr lang="en-IN" sz="2000" dirty="0"/>
              <a:t> – Displays AI-generated learning material such as simplified explanations, real-world analogies, key concepts, practical examples, exam points, quick revision notes, and MCQ quizzes.</a:t>
            </a:r>
          </a:p>
          <a:p>
            <a:r>
              <a:rPr lang="en-IN" sz="2000" b="1" dirty="0"/>
              <a:t>5) File Component</a:t>
            </a:r>
            <a:r>
              <a:rPr lang="en-IN" sz="2000" dirty="0"/>
              <a:t> – Accepts academic PDF documents and provides course material to the AI workflow for content analysis and simplification.</a:t>
            </a:r>
          </a:p>
          <a:p>
            <a:r>
              <a:rPr lang="en-IN" sz="2000" b="1" dirty="0"/>
              <a:t>6) Prompt Template</a:t>
            </a:r>
            <a:r>
              <a:rPr lang="en-IN" sz="2000" dirty="0"/>
              <a:t> – Structures the student's content and learning preferences into a clear instruction for the Granite model to generate personalized educational material.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AE9A9-700A-79A4-7F5C-91AAE5886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7702"/>
            <a:ext cx="12192000" cy="476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1AE92-AE91-AEE0-936D-F3E2C5154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288925"/>
            <a:ext cx="9420225" cy="6280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1B8083-A5FC-3A8A-E9F0-A350170E68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6094"/>
          <a:stretch>
            <a:fillRect/>
          </a:stretch>
        </p:blipFill>
        <p:spPr>
          <a:xfrm>
            <a:off x="295275" y="206375"/>
            <a:ext cx="3286125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0160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the solution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554627" y="840702"/>
            <a:ext cx="845553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Agentic AI</a:t>
            </a:r>
            <a:r>
              <a:rPr lang="en-IN" sz="2000" dirty="0"/>
              <a:t> enables </a:t>
            </a:r>
            <a:r>
              <a:rPr lang="en-IN" sz="2000" dirty="0" err="1"/>
              <a:t>EduSimplify</a:t>
            </a:r>
            <a:r>
              <a:rPr lang="en-IN" sz="2000" dirty="0"/>
              <a:t> AI to intelligently </a:t>
            </a:r>
            <a:r>
              <a:rPr lang="en-IN" sz="2000" dirty="0" err="1"/>
              <a:t>analyze</a:t>
            </a:r>
            <a:r>
              <a:rPr lang="en-IN" sz="2000" dirty="0"/>
              <a:t> academic content, understand learner requirements, and generate personalized learning material rather than providing a generic explanation.</a:t>
            </a:r>
          </a:p>
          <a:p>
            <a:pPr lvl="0"/>
            <a:r>
              <a:rPr lang="en-IN" sz="2000" b="1" dirty="0"/>
              <a:t>Content Analysis</a:t>
            </a:r>
            <a:r>
              <a:rPr lang="en-IN" sz="2000" dirty="0"/>
              <a:t> – </a:t>
            </a:r>
            <a:r>
              <a:rPr lang="en-IN" sz="2000" dirty="0" err="1"/>
              <a:t>Analyzes</a:t>
            </a:r>
            <a:r>
              <a:rPr lang="en-IN" sz="2000" dirty="0"/>
              <a:t> academic text/PDFs and identifies important concepts and terminology. </a:t>
            </a:r>
          </a:p>
          <a:p>
            <a:pPr lvl="0"/>
            <a:r>
              <a:rPr lang="en-IN" sz="2000" b="1" dirty="0"/>
              <a:t>Learner Adaptation</a:t>
            </a:r>
            <a:r>
              <a:rPr lang="en-IN" sz="2000" dirty="0"/>
              <a:t> – Determines the appropriate explanation depth based on </a:t>
            </a:r>
            <a:r>
              <a:rPr lang="en-IN" sz="2000" b="1" dirty="0"/>
              <a:t>Beginner, Intermediate, or Advanced</a:t>
            </a:r>
            <a:r>
              <a:rPr lang="en-IN" sz="2000" dirty="0"/>
              <a:t> level. </a:t>
            </a:r>
          </a:p>
          <a:p>
            <a:pPr lvl="0"/>
            <a:r>
              <a:rPr lang="en-IN" sz="2000" b="1" dirty="0"/>
              <a:t>Personalized Generation</a:t>
            </a:r>
            <a:r>
              <a:rPr lang="en-IN" sz="2000" dirty="0"/>
              <a:t> – Generates explanations, analogies, examples, revision notes, and quizzes according to the learner's preferences. </a:t>
            </a:r>
          </a:p>
          <a:p>
            <a:pPr lvl="0"/>
            <a:r>
              <a:rPr lang="en-IN" sz="2000" b="1" dirty="0"/>
              <a:t>Multilingual Assistance</a:t>
            </a:r>
            <a:r>
              <a:rPr lang="en-IN" sz="2000" dirty="0"/>
              <a:t> – Produces learning content in the student's selected language while retaining essential technical terms. </a:t>
            </a:r>
          </a:p>
          <a:p>
            <a:pPr lvl="0"/>
            <a:r>
              <a:rPr lang="en-IN" sz="2000" b="1" dirty="0"/>
              <a:t>Context-Aware Processing</a:t>
            </a:r>
            <a:r>
              <a:rPr lang="en-IN" sz="2000" dirty="0"/>
              <a:t> – Uses the provided academic content and relevant retrieved information to maintain context and improve responses. </a:t>
            </a:r>
          </a:p>
          <a:p>
            <a:pPr lvl="0"/>
            <a:r>
              <a:rPr lang="en-IN" sz="2000" b="1" dirty="0"/>
              <a:t>Autonomous Task Execution</a:t>
            </a:r>
            <a:r>
              <a:rPr lang="en-IN" sz="2000" dirty="0"/>
              <a:t> – Coordinates multiple stages such as content analysis, simplification, learning assistance, and exam preparation to produce a complete learning package. </a:t>
            </a:r>
          </a:p>
          <a:p>
            <a:pPr lvl="0"/>
            <a:r>
              <a:rPr lang="en-IN" sz="2000" b="1" dirty="0"/>
              <a:t>Interactive Learning</a:t>
            </a:r>
            <a:r>
              <a:rPr lang="en-IN" sz="2000" dirty="0"/>
              <a:t> – Responds dynamically to different student inputs and preferences.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13232" y="86916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13232" y="610136"/>
            <a:ext cx="1130198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proposed </a:t>
            </a:r>
            <a:r>
              <a:rPr lang="en-IN" sz="2000" b="1" dirty="0" err="1"/>
              <a:t>EduSimplify</a:t>
            </a:r>
            <a:r>
              <a:rPr lang="en-IN" sz="2000" b="1" dirty="0"/>
              <a:t> AI</a:t>
            </a:r>
            <a:r>
              <a:rPr lang="en-IN" sz="2000" dirty="0"/>
              <a:t> stands out by combining </a:t>
            </a:r>
            <a:r>
              <a:rPr lang="en-IN" sz="2000" b="1" dirty="0"/>
              <a:t>Agentic AI, personalization, multilingual learning, and adaptive content simplification</a:t>
            </a:r>
            <a:r>
              <a:rPr lang="en-IN" sz="2000" dirty="0"/>
              <a:t> into a single intelligent educational system.</a:t>
            </a:r>
          </a:p>
          <a:p>
            <a:r>
              <a:rPr lang="en-IN" sz="2000" b="1" dirty="0"/>
              <a:t>Adaptive Learning</a:t>
            </a:r>
            <a:r>
              <a:rPr lang="en-IN" sz="2000" dirty="0"/>
              <a:t> – Instead of providing the same explanation to every student, the system adjusts content according to </a:t>
            </a:r>
            <a:r>
              <a:rPr lang="en-IN" sz="2000" b="1" dirty="0"/>
              <a:t>Beginner, Intermediate, and Advanced</a:t>
            </a:r>
            <a:r>
              <a:rPr lang="en-IN" sz="2000" dirty="0"/>
              <a:t> proficiency levels.</a:t>
            </a:r>
          </a:p>
          <a:p>
            <a:r>
              <a:rPr lang="en-IN" sz="2000" b="1" dirty="0"/>
              <a:t>Personalized Explanations</a:t>
            </a:r>
            <a:r>
              <a:rPr lang="en-IN" sz="2000" dirty="0"/>
              <a:t> – Tailors the depth and presentation of academic concepts according to the learner's selected </a:t>
            </a:r>
            <a:r>
              <a:rPr lang="en-IN" sz="2000" b="1" dirty="0"/>
              <a:t>level, language, and explanation style</a:t>
            </a:r>
            <a:r>
              <a:rPr lang="en-IN" sz="2000" dirty="0"/>
              <a:t>.</a:t>
            </a:r>
          </a:p>
          <a:p>
            <a:r>
              <a:rPr lang="en-IN" sz="2000" b="1" dirty="0"/>
              <a:t>Multilingual Education</a:t>
            </a:r>
            <a:r>
              <a:rPr lang="en-IN" sz="2000" dirty="0"/>
              <a:t> – Supports </a:t>
            </a:r>
            <a:r>
              <a:rPr lang="en-IN" sz="2000" b="1" dirty="0"/>
              <a:t>English, Kannada, Hindi, Tamil, and Telugu</a:t>
            </a:r>
            <a:r>
              <a:rPr lang="en-IN" sz="2000" dirty="0"/>
              <a:t>, making technical educational content more accessible to learners.</a:t>
            </a:r>
          </a:p>
          <a:p>
            <a:r>
              <a:rPr lang="en-IN" sz="2000" b="1" dirty="0"/>
              <a:t>AI-Powered Content Transformation</a:t>
            </a:r>
            <a:r>
              <a:rPr lang="en-IN" sz="2000" dirty="0"/>
              <a:t> – Converts complex academic material into </a:t>
            </a:r>
            <a:r>
              <a:rPr lang="en-IN" sz="2000" b="1" dirty="0"/>
              <a:t>simple explanations, real-world analogies, practical examples, and key concepts</a:t>
            </a:r>
            <a:r>
              <a:rPr lang="en-IN" sz="2000" dirty="0"/>
              <a:t>.</a:t>
            </a:r>
          </a:p>
          <a:p>
            <a:r>
              <a:rPr lang="en-IN" sz="2000" b="1" dirty="0"/>
              <a:t>Exam-Oriented Intelligence</a:t>
            </a:r>
            <a:r>
              <a:rPr lang="en-IN" sz="2000" dirty="0"/>
              <a:t> – Automatically generates </a:t>
            </a:r>
            <a:r>
              <a:rPr lang="en-IN" sz="2000" b="1" dirty="0"/>
              <a:t>exam points, quick revision notes, and MCQ quizzes</a:t>
            </a:r>
            <a:r>
              <a:rPr lang="en-IN" sz="2000" dirty="0"/>
              <a:t>, reducing the need for separate preparation material.</a:t>
            </a:r>
          </a:p>
          <a:p>
            <a:r>
              <a:rPr lang="en-IN" sz="2000" b="1" dirty="0"/>
              <a:t>PDF-to-Learning Material</a:t>
            </a:r>
            <a:r>
              <a:rPr lang="en-IN" sz="2000" dirty="0"/>
              <a:t> – Allows students to upload academic PDFs and transforms lengthy course material into structured and easier-to-understand learning content.</a:t>
            </a:r>
          </a:p>
          <a:p>
            <a:r>
              <a:rPr lang="en-IN" sz="2000" b="1" dirty="0"/>
              <a:t>Agentic Workflow</a:t>
            </a:r>
            <a:r>
              <a:rPr lang="en-IN" sz="2000" dirty="0"/>
              <a:t> – Coordinates multiple intelligent tasks such as </a:t>
            </a:r>
            <a:r>
              <a:rPr lang="en-IN" sz="2000" b="1" dirty="0"/>
              <a:t>content analysis, simplification, learning assistance, and exam preparation</a:t>
            </a:r>
            <a:r>
              <a:rPr lang="en-IN" sz="2000" dirty="0"/>
              <a:t> to produce a complete personalized learning package.</a:t>
            </a:r>
          </a:p>
          <a:p>
            <a:r>
              <a:rPr lang="en-IN" sz="2000" b="1" dirty="0"/>
              <a:t>Inclusive Education</a:t>
            </a:r>
            <a:r>
              <a:rPr lang="en-IN" sz="2000" dirty="0"/>
              <a:t> – Helps learners with different levels of prior knowledge understand the </a:t>
            </a:r>
            <a:r>
              <a:rPr lang="en-IN" sz="2000" b="1" dirty="0"/>
              <a:t>same academic content at an appropriate level of complexity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3"/>
            <a:ext cx="9214580" cy="118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 err="1">
                <a:solidFill>
                  <a:srgbClr val="2B3541"/>
                </a:solidFill>
                <a:latin typeface="+mj-lt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000" dirty="0">
                <a:solidFill>
                  <a:srgbClr val="2B3541"/>
                </a:solidFill>
                <a:latin typeface="+mj-lt"/>
                <a:ea typeface="Times New Roman"/>
                <a:cs typeface="Times New Roman"/>
                <a:sym typeface="Times New Roman"/>
              </a:rPr>
              <a:t> URL –</a:t>
            </a:r>
            <a:r>
              <a:rPr lang="en-US" sz="2000" dirty="0">
                <a:latin typeface="+mj-lt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000" dirty="0">
                <a:latin typeface="+mj-lt"/>
                <a:ea typeface="Times New Roman"/>
                <a:cs typeface="Times New Roman"/>
                <a:sym typeface="Times New Roman"/>
                <a:hlinkClick r:id="rId3"/>
              </a:rPr>
              <a:t>https://github.com/Pavan23223/EduSimplify-AI</a:t>
            </a:r>
            <a:endParaRPr lang="en-US" sz="2000" dirty="0">
              <a:solidFill>
                <a:srgbClr val="2B3541"/>
              </a:solidFill>
              <a:latin typeface="+mj-lt"/>
              <a:ea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1FD625-CEE8-B0E8-3B7C-3728EB2D0CD5}"/>
              </a:ext>
            </a:extLst>
          </p:cNvPr>
          <p:cNvSpPr txBox="1"/>
          <p:nvPr/>
        </p:nvSpPr>
        <p:spPr>
          <a:xfrm>
            <a:off x="733806" y="440472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Project Screenshots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85B382D-6DA7-FB89-2AC8-798B999DA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" y="963692"/>
            <a:ext cx="10524744" cy="522396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BDCC2D6-009B-77EC-494C-B5F020E0E9FC}"/>
              </a:ext>
            </a:extLst>
          </p:cNvPr>
          <p:cNvSpPr txBox="1"/>
          <p:nvPr/>
        </p:nvSpPr>
        <p:spPr>
          <a:xfrm>
            <a:off x="2857500" y="61876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Home / Input Screen</a:t>
            </a:r>
          </a:p>
        </p:txBody>
      </p:sp>
    </p:spTree>
    <p:extLst>
      <p:ext uri="{BB962C8B-B14F-4D97-AF65-F5344CB8AC3E}">
        <p14:creationId xmlns:p14="http://schemas.microsoft.com/office/powerpoint/2010/main" val="23089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532738-DAFC-9096-9DDB-A151B0833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649"/>
            <a:ext cx="12192000" cy="59529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D07F1D-D3F3-8CDA-55C0-33614F3347A9}"/>
              </a:ext>
            </a:extLst>
          </p:cNvPr>
          <p:cNvSpPr txBox="1"/>
          <p:nvPr/>
        </p:nvSpPr>
        <p:spPr>
          <a:xfrm>
            <a:off x="2971800" y="61516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Personalized Learning Output</a:t>
            </a:r>
          </a:p>
        </p:txBody>
      </p:sp>
    </p:spTree>
    <p:extLst>
      <p:ext uri="{BB962C8B-B14F-4D97-AF65-F5344CB8AC3E}">
        <p14:creationId xmlns:p14="http://schemas.microsoft.com/office/powerpoint/2010/main" val="3663214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50B989-511F-1110-C2E0-4B8A7957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03" y="0"/>
            <a:ext cx="9974775" cy="5781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DAF281-92BF-DB89-C700-FC96559F99D7}"/>
              </a:ext>
            </a:extLst>
          </p:cNvPr>
          <p:cNvSpPr txBox="1"/>
          <p:nvPr/>
        </p:nvSpPr>
        <p:spPr>
          <a:xfrm>
            <a:off x="2971800" y="61516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Personalized Learning Output</a:t>
            </a:r>
          </a:p>
        </p:txBody>
      </p:sp>
    </p:spTree>
    <p:extLst>
      <p:ext uri="{BB962C8B-B14F-4D97-AF65-F5344CB8AC3E}">
        <p14:creationId xmlns:p14="http://schemas.microsoft.com/office/powerpoint/2010/main" val="3116722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21C370-A27B-4801-4007-5292279D5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33409"/>
            <a:ext cx="11620500" cy="56376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88613A-18AA-3B9B-F603-F97CCE6D868E}"/>
              </a:ext>
            </a:extLst>
          </p:cNvPr>
          <p:cNvSpPr txBox="1"/>
          <p:nvPr/>
        </p:nvSpPr>
        <p:spPr>
          <a:xfrm>
            <a:off x="2847975" y="600878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PDF Upload Screen</a:t>
            </a:r>
          </a:p>
        </p:txBody>
      </p:sp>
    </p:spTree>
    <p:extLst>
      <p:ext uri="{BB962C8B-B14F-4D97-AF65-F5344CB8AC3E}">
        <p14:creationId xmlns:p14="http://schemas.microsoft.com/office/powerpoint/2010/main" val="1340615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350B06-FB62-586C-C6D5-5637FE1D1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230198"/>
            <a:ext cx="11677650" cy="5799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2B4F5E-DAF2-F7AF-3E8C-53701CAFB2FE}"/>
              </a:ext>
            </a:extLst>
          </p:cNvPr>
          <p:cNvSpPr txBox="1"/>
          <p:nvPr/>
        </p:nvSpPr>
        <p:spPr>
          <a:xfrm>
            <a:off x="2781300" y="62278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/>
              <a:t>Multilingual Learning Option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58156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A74653-ED4D-D264-50A6-74E85E13C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500"/>
            <a:ext cx="12192000" cy="600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B3B401-3DDC-06C1-9815-8735144DE980}"/>
              </a:ext>
            </a:extLst>
          </p:cNvPr>
          <p:cNvSpPr txBox="1"/>
          <p:nvPr/>
        </p:nvSpPr>
        <p:spPr>
          <a:xfrm>
            <a:off x="2781300" y="62278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/>
              <a:t>Multilingual Learning Option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29378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798100" y="26156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594360" y="1044263"/>
            <a:ext cx="11201400" cy="547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/>
              <a:t>1. AI-Powered Voice Assistant &amp; Multilingual Expansion –</a:t>
            </a:r>
            <a:br>
              <a:rPr lang="en-IN" sz="2000" dirty="0"/>
            </a:br>
            <a:r>
              <a:rPr lang="en-IN" sz="2000" dirty="0"/>
              <a:t>The system can be enhanced with a </a:t>
            </a:r>
            <a:r>
              <a:rPr lang="en-IN" sz="2000" b="1" dirty="0"/>
              <a:t>voice-enabled learning assistant</a:t>
            </a:r>
            <a:r>
              <a:rPr lang="en-IN" sz="2000" dirty="0"/>
              <a:t> and additional regional languages. Students will be able to interact naturally through voice and receive simplified academic explanations in their preferred language, improving accessibility and inclusiveness.</a:t>
            </a:r>
          </a:p>
          <a:p>
            <a:r>
              <a:rPr lang="en-IN" sz="2000" b="1" dirty="0"/>
              <a:t>2. Personalized Learning Progress Tracking –</a:t>
            </a:r>
            <a:br>
              <a:rPr lang="en-IN" sz="2000" dirty="0"/>
            </a:br>
            <a:r>
              <a:rPr lang="en-IN" sz="2000" dirty="0"/>
              <a:t>The system can track a student's </a:t>
            </a:r>
            <a:r>
              <a:rPr lang="en-IN" sz="2000" b="1" dirty="0"/>
              <a:t>topics studied, quiz performance, learning level, and revision history</a:t>
            </a:r>
            <a:r>
              <a:rPr lang="en-IN" sz="2000" dirty="0"/>
              <a:t> to provide more personalized recommendations and identify areas that require additional attention.</a:t>
            </a:r>
          </a:p>
          <a:p>
            <a:r>
              <a:rPr lang="en-IN" sz="2000" b="1" dirty="0"/>
              <a:t>3. Voice-Based &amp; Interactive Learning –</a:t>
            </a:r>
            <a:br>
              <a:rPr lang="en-IN" sz="2000" dirty="0"/>
            </a:br>
            <a:r>
              <a:rPr lang="en-IN" sz="2000" dirty="0"/>
              <a:t>Students could ask questions verbally and receive </a:t>
            </a:r>
            <a:r>
              <a:rPr lang="en-IN" sz="2000" b="1" dirty="0"/>
              <a:t>spoken explanations, examples, and revision assistance</a:t>
            </a:r>
            <a:r>
              <a:rPr lang="en-IN" sz="2000" dirty="0"/>
              <a:t>, making the system more accessible for different learning preferences.</a:t>
            </a:r>
          </a:p>
          <a:p>
            <a:r>
              <a:rPr lang="en-IN" sz="2000" b="1" dirty="0"/>
              <a:t>4. Integration with Educational Platforms –</a:t>
            </a:r>
            <a:br>
              <a:rPr lang="en-IN" sz="2000" dirty="0"/>
            </a:br>
            <a:r>
              <a:rPr lang="en-IN" sz="2000" dirty="0" err="1"/>
              <a:t>EduSimplify</a:t>
            </a:r>
            <a:r>
              <a:rPr lang="en-IN" sz="2000" dirty="0"/>
              <a:t> AI could be integrated with </a:t>
            </a:r>
            <a:r>
              <a:rPr lang="en-IN" sz="2000" b="1" dirty="0"/>
              <a:t>Learning Management Systems (LMS), digital classrooms, and institutional course repositories</a:t>
            </a:r>
            <a:r>
              <a:rPr lang="en-IN" sz="2000" dirty="0"/>
              <a:t> to automatically simplify course materials and support students throughout their academic journey.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35A58F-A46E-EC89-5ED9-E47A4BA74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81" y="1367169"/>
            <a:ext cx="6776120" cy="510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63F583-F34B-91DE-5339-A084A98BD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84" y="1282803"/>
            <a:ext cx="8634735" cy="534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1648</Words>
  <Application>Microsoft Office PowerPoint</Application>
  <PresentationFormat>Widescreen</PresentationFormat>
  <Paragraphs>108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PAVAN KALYAN</cp:lastModifiedBy>
  <cp:revision>13</cp:revision>
  <dcterms:created xsi:type="dcterms:W3CDTF">2025-07-08T05:06:56Z</dcterms:created>
  <dcterms:modified xsi:type="dcterms:W3CDTF">2026-09-11T17:40:56Z</dcterms:modified>
</cp:coreProperties>
</file>